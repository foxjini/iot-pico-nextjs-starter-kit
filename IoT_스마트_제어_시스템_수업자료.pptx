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6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0B7B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 스마트 제어 시스템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센서와 액추에이터로 만드는 나만의 스마트 기기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B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인천전자마이스터고 정보통신과 · 1학년 IoT 실습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배울 5단계 여정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1828800"/>
            <a:ext cx="1051560" cy="1051560"/>
          </a:xfrm>
          <a:prstGeom prst="ellipse">
            <a:avLst/>
          </a:prstGeom>
          <a:solidFill>
            <a:srgbClr val="EAF2FE"/>
          </a:solidFill>
          <a:ln/>
        </p:spPr>
      </p:sp>
      <p:pic>
        <p:nvPicPr>
          <p:cNvPr id="4" name="Image 0" descr="icons/laptopcode_0668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498" y="1976018"/>
            <a:ext cx="757123" cy="7571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063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0주차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33649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준비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91363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Code + CircuitPython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660904" y="2240280"/>
            <a:ext cx="274320" cy="228600"/>
          </a:xfrm>
          <a:prstGeom prst="rightArrow">
            <a:avLst/>
          </a:prstGeom>
          <a:solidFill>
            <a:srgbClr val="C9DDF8"/>
          </a:solidFill>
          <a:ln/>
        </p:spPr>
      </p:sp>
      <p:sp>
        <p:nvSpPr>
          <p:cNvPr id="9" name="Shape 6"/>
          <p:cNvSpPr/>
          <p:nvPr/>
        </p:nvSpPr>
        <p:spPr>
          <a:xfrm>
            <a:off x="3310128" y="1828800"/>
            <a:ext cx="1051560" cy="1051560"/>
          </a:xfrm>
          <a:prstGeom prst="ellipse">
            <a:avLst/>
          </a:prstGeom>
          <a:solidFill>
            <a:srgbClr val="EAF2FE"/>
          </a:solidFill>
          <a:ln/>
        </p:spPr>
      </p:sp>
      <p:pic>
        <p:nvPicPr>
          <p:cNvPr id="10" name="Image 1" descr="icons/microchip_066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346" y="1976018"/>
            <a:ext cx="757123" cy="7571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52928" y="3063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52928" y="33649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· 액추에이터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852928" y="391363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혼자서 동작하는 장치 만들기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73752" y="2240280"/>
            <a:ext cx="274320" cy="228600"/>
          </a:xfrm>
          <a:prstGeom prst="rightArrow">
            <a:avLst/>
          </a:prstGeom>
          <a:solidFill>
            <a:srgbClr val="C9DDF8"/>
          </a:solidFill>
          <a:ln/>
        </p:spPr>
      </p:sp>
      <p:sp>
        <p:nvSpPr>
          <p:cNvPr id="15" name="Shape 11"/>
          <p:cNvSpPr/>
          <p:nvPr/>
        </p:nvSpPr>
        <p:spPr>
          <a:xfrm>
            <a:off x="5522976" y="1828800"/>
            <a:ext cx="1051560" cy="1051560"/>
          </a:xfrm>
          <a:prstGeom prst="ellipse">
            <a:avLst/>
          </a:prstGeom>
          <a:solidFill>
            <a:srgbClr val="EAF2FE"/>
          </a:solidFill>
          <a:ln/>
        </p:spPr>
      </p:sp>
      <p:pic>
        <p:nvPicPr>
          <p:cNvPr id="16" name="Image 2" descr="icons/wifi_0668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194" y="1976018"/>
            <a:ext cx="757123" cy="75712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65776" y="3063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065776" y="33649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 연결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065776" y="391363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Wi-Fi로 서버·DB와 통신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086600" y="2240280"/>
            <a:ext cx="274320" cy="228600"/>
          </a:xfrm>
          <a:prstGeom prst="rightArrow">
            <a:avLst/>
          </a:prstGeom>
          <a:solidFill>
            <a:srgbClr val="C9DDF8"/>
          </a:solidFill>
          <a:ln/>
        </p:spPr>
      </p:sp>
      <p:sp>
        <p:nvSpPr>
          <p:cNvPr id="21" name="Shape 16"/>
          <p:cNvSpPr/>
          <p:nvPr/>
        </p:nvSpPr>
        <p:spPr>
          <a:xfrm>
            <a:off x="7735824" y="1828800"/>
            <a:ext cx="1051560" cy="1051560"/>
          </a:xfrm>
          <a:prstGeom prst="ellipse">
            <a:avLst/>
          </a:prstGeom>
          <a:solidFill>
            <a:srgbClr val="EAF2FE"/>
          </a:solidFill>
          <a:ln/>
        </p:spPr>
      </p:sp>
      <p:pic>
        <p:nvPicPr>
          <p:cNvPr id="22" name="Image 3" descr="icons/desktop_0668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042" y="1976018"/>
            <a:ext cx="757123" cy="75712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78624" y="3063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3주차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278624" y="33649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대시보드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278624" y="391363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WebSocket으로 즉시 반응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299448" y="2240280"/>
            <a:ext cx="274320" cy="228600"/>
          </a:xfrm>
          <a:prstGeom prst="rightArrow">
            <a:avLst/>
          </a:prstGeom>
          <a:solidFill>
            <a:srgbClr val="C9DDF8"/>
          </a:solidFill>
          <a:ln/>
        </p:spPr>
      </p:sp>
      <p:sp>
        <p:nvSpPr>
          <p:cNvPr id="27" name="Shape 21"/>
          <p:cNvSpPr/>
          <p:nvPr/>
        </p:nvSpPr>
        <p:spPr>
          <a:xfrm>
            <a:off x="9948672" y="1828800"/>
            <a:ext cx="1051560" cy="1051560"/>
          </a:xfrm>
          <a:prstGeom prst="ellipse">
            <a:avLst/>
          </a:prstGeom>
          <a:solidFill>
            <a:srgbClr val="EAF2FE"/>
          </a:solidFill>
          <a:ln/>
        </p:spPr>
      </p:sp>
      <p:pic>
        <p:nvPicPr>
          <p:cNvPr id="28" name="Image 4" descr="icons/palette_0668E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5890" y="1976018"/>
            <a:ext cx="757123" cy="75712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491472" y="3063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4주차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9491472" y="33649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디자인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9491472" y="3913632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수준으로 다듬기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단계는 지난 단계 위에 쌓입니다 — 학기가 끝나면 센서 값이 화면에 실시간으로 뜨는 나만의 제어 시스템이 완성됩니다.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만들 최종 결과물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2377440" cy="3200400"/>
          </a:xfrm>
          <a:prstGeom prst="roundRect">
            <a:avLst>
              <a:gd name="adj" fmla="val 4615"/>
            </a:avLst>
          </a:prstGeom>
          <a:solidFill>
            <a:srgbClr val="EAF2FE"/>
          </a:solidFill>
          <a:ln/>
        </p:spPr>
      </p:sp>
      <p:sp>
        <p:nvSpPr>
          <p:cNvPr id="4" name="Shape 2"/>
          <p:cNvSpPr/>
          <p:nvPr/>
        </p:nvSpPr>
        <p:spPr>
          <a:xfrm>
            <a:off x="1325880" y="23317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icons/microchip_0668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698" y="2472538"/>
            <a:ext cx="724205" cy="724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Pico 2 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9319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온습도·조도 센서로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환경을 감지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072384" y="3447288"/>
            <a:ext cx="274320" cy="237744"/>
          </a:xfrm>
          <a:prstGeom prst="rightArrow">
            <a:avLst/>
          </a:prstGeom>
          <a:solidFill>
            <a:srgbClr val="0668E1"/>
          </a:solidFill>
          <a:ln/>
        </p:spPr>
      </p:sp>
      <p:sp>
        <p:nvSpPr>
          <p:cNvPr id="9" name="Shape 6"/>
          <p:cNvSpPr/>
          <p:nvPr/>
        </p:nvSpPr>
        <p:spPr>
          <a:xfrm>
            <a:off x="3246120" y="1965960"/>
            <a:ext cx="2377440" cy="3200400"/>
          </a:xfrm>
          <a:prstGeom prst="roundRect">
            <a:avLst>
              <a:gd name="adj" fmla="val 4615"/>
            </a:avLst>
          </a:prstGeom>
          <a:solidFill>
            <a:srgbClr val="EAF2FE"/>
          </a:solidFill>
          <a:ln/>
        </p:spPr>
      </p:sp>
      <p:sp>
        <p:nvSpPr>
          <p:cNvPr id="10" name="Shape 7"/>
          <p:cNvSpPr/>
          <p:nvPr/>
        </p:nvSpPr>
        <p:spPr>
          <a:xfrm>
            <a:off x="3931920" y="23317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wifi_066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738" y="2472538"/>
            <a:ext cx="724205" cy="7242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Wi-Fi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83280" y="39319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무선으로 데이터를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서버에 전송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78424" y="3447288"/>
            <a:ext cx="274320" cy="237744"/>
          </a:xfrm>
          <a:prstGeom prst="rightArrow">
            <a:avLst/>
          </a:prstGeom>
          <a:solidFill>
            <a:srgbClr val="0668E1"/>
          </a:solidFill>
          <a:ln/>
        </p:spPr>
      </p:sp>
      <p:sp>
        <p:nvSpPr>
          <p:cNvPr id="15" name="Shape 11"/>
          <p:cNvSpPr/>
          <p:nvPr/>
        </p:nvSpPr>
        <p:spPr>
          <a:xfrm>
            <a:off x="5852160" y="1965960"/>
            <a:ext cx="2377440" cy="3200400"/>
          </a:xfrm>
          <a:prstGeom prst="roundRect">
            <a:avLst>
              <a:gd name="adj" fmla="val 4615"/>
            </a:avLst>
          </a:prstGeom>
          <a:solidFill>
            <a:srgbClr val="EAF2FE"/>
          </a:solidFill>
          <a:ln/>
        </p:spPr>
      </p:sp>
      <p:sp>
        <p:nvSpPr>
          <p:cNvPr id="16" name="Shape 12"/>
          <p:cNvSpPr/>
          <p:nvPr/>
        </p:nvSpPr>
        <p:spPr>
          <a:xfrm>
            <a:off x="6537960" y="23317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server_0668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778" y="2472538"/>
            <a:ext cx="724205" cy="72420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8932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서버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989320" y="39319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받아 정리하고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DB에 저장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284464" y="3447288"/>
            <a:ext cx="274320" cy="237744"/>
          </a:xfrm>
          <a:prstGeom prst="rightArrow">
            <a:avLst/>
          </a:prstGeom>
          <a:solidFill>
            <a:srgbClr val="0668E1"/>
          </a:solidFill>
          <a:ln/>
        </p:spPr>
      </p:sp>
      <p:sp>
        <p:nvSpPr>
          <p:cNvPr id="21" name="Shape 16"/>
          <p:cNvSpPr/>
          <p:nvPr/>
        </p:nvSpPr>
        <p:spPr>
          <a:xfrm>
            <a:off x="8458200" y="1965960"/>
            <a:ext cx="2377440" cy="3200400"/>
          </a:xfrm>
          <a:prstGeom prst="roundRect">
            <a:avLst>
              <a:gd name="adj" fmla="val 4615"/>
            </a:avLst>
          </a:prstGeom>
          <a:solidFill>
            <a:srgbClr val="EAF2FE"/>
          </a:solidFill>
          <a:ln/>
        </p:spPr>
      </p:sp>
      <p:sp>
        <p:nvSpPr>
          <p:cNvPr id="22" name="Shape 17"/>
          <p:cNvSpPr/>
          <p:nvPr/>
        </p:nvSpPr>
        <p:spPr>
          <a:xfrm>
            <a:off x="9144000" y="23317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icons/desktop_0668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818" y="2472538"/>
            <a:ext cx="724205" cy="72420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9536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595360" y="39319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값 확인과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LED·모터 원격 제어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센서(입력) → 통신 → 저장/처리 → 화면(출력) — 모든 IoT 시스템은 이 네 단계를 거칩니다.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IoT(사물인터넷)란 무엇인가?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사물(Thing)에 인터넷(Internet)을 연결해서, 사물들이 스스로 정보를 주고받고 서로 제어할 수 있게 만드는 기술입니다.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EAF2FE"/>
          </a:solidFill>
          <a:ln/>
        </p:spPr>
      </p:sp>
      <p:sp>
        <p:nvSpPr>
          <p:cNvPr id="6" name="Shape 4"/>
          <p:cNvSpPr/>
          <p:nvPr/>
        </p:nvSpPr>
        <p:spPr>
          <a:xfrm>
            <a:off x="1874520" y="3200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mobile_0668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536" y="3328416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스마트워치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6634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심박수를 재서 스마트폰 앱으로 바로 보내줌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8803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EAF2FE"/>
          </a:solidFill>
          <a:ln/>
        </p:spPr>
      </p:sp>
      <p:sp>
        <p:nvSpPr>
          <p:cNvPr id="11" name="Shape 8"/>
          <p:cNvSpPr/>
          <p:nvPr/>
        </p:nvSpPr>
        <p:spPr>
          <a:xfrm>
            <a:off x="5577840" y="3200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home_066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56" y="3328416"/>
            <a:ext cx="658368" cy="6583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스마트홈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46634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핸드폰으로 집 조명·에어컨을 원격으로 켜고 끔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288036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EAF2FE"/>
          </a:solidFill>
          <a:ln/>
        </p:spPr>
      </p:sp>
      <p:sp>
        <p:nvSpPr>
          <p:cNvPr id="16" name="Shape 12"/>
          <p:cNvSpPr/>
          <p:nvPr/>
        </p:nvSpPr>
        <p:spPr>
          <a:xfrm>
            <a:off x="9281160" y="3200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industry_0668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9176" y="3328416"/>
            <a:ext cx="658368" cy="6583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스마트팩토리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21040" y="46634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설비 센서 값을 모아 이상 여부를 자동 감지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만드는 스마트 제어 시스템도 똑같은 원리의 작은 IoT 시스템입니다.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vs 액추에이터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206240"/>
          </a:xfrm>
          <a:prstGeom prst="roundRect">
            <a:avLst>
              <a:gd name="adj" fmla="val 3043"/>
            </a:avLst>
          </a:prstGeom>
          <a:solidFill>
            <a:srgbClr val="EAF2F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eye_0668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185416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(Sensor)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2004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환경(온도·밝기 등)을 "감지"해서 숫자 데이터로 바꿔주는 부품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4069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사람의 감각기관(눈, 피부)과 같은 역할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" y="4663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쓸 센서:  DHT11(온습도)  ·  CdS(조도)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45352" y="1691640"/>
            <a:ext cx="5120640" cy="4206240"/>
          </a:xfrm>
          <a:prstGeom prst="roundRect">
            <a:avLst>
              <a:gd name="adj" fmla="val 3043"/>
            </a:avLst>
          </a:prstGeom>
          <a:solidFill>
            <a:srgbClr val="EAF2FE"/>
          </a:solidFill>
          <a:ln/>
        </p:spPr>
      </p:sp>
      <p:sp>
        <p:nvSpPr>
          <p:cNvPr id="12" name="Shape 9"/>
          <p:cNvSpPr/>
          <p:nvPr/>
        </p:nvSpPr>
        <p:spPr>
          <a:xfrm>
            <a:off x="6611112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icons/cog_066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185416"/>
            <a:ext cx="658368" cy="6583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08392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액추에이터 (Actuator)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611112" y="320040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명령을 받아 실제로 "움직이거나 동작"하는 부품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611112" y="4069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사람의 근육과 같은 역할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611112" y="4663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쓸 액추에이터:  RGB LED  ·  SG90 서보모터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학기 사용할 부품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EAF2FE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14884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thermometer_0668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737" y="2283257"/>
            <a:ext cx="691286" cy="6912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91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DHT11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온습도 센서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온도와 습도를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측정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82880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EAF2FE"/>
          </a:solidFill>
          <a:ln/>
        </p:spPr>
      </p:sp>
      <p:sp>
        <p:nvSpPr>
          <p:cNvPr id="11" name="Shape 8"/>
          <p:cNvSpPr/>
          <p:nvPr/>
        </p:nvSpPr>
        <p:spPr>
          <a:xfrm>
            <a:off x="4160520" y="214884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sun_066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37" y="2283257"/>
            <a:ext cx="691286" cy="6912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291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20440" y="3657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조도 센서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566160" y="41148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주변이 얼마나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밝은지 측정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82880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EAF2FE"/>
          </a:solidFill>
          <a:ln/>
        </p:spPr>
      </p:sp>
      <p:sp>
        <p:nvSpPr>
          <p:cNvPr id="17" name="Shape 13"/>
          <p:cNvSpPr/>
          <p:nvPr/>
        </p:nvSpPr>
        <p:spPr>
          <a:xfrm>
            <a:off x="6903720" y="214884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icons/lightbulb_0668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137" y="2283257"/>
            <a:ext cx="691286" cy="6912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3291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RGB LED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263640" y="3657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 LED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309360" y="41148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빨강·초록·파랑을 섞어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다양한 색을 표현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869680" y="182880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EAF2FE"/>
          </a:solidFill>
          <a:ln/>
        </p:spPr>
      </p:sp>
      <p:sp>
        <p:nvSpPr>
          <p:cNvPr id="23" name="Shape 18"/>
          <p:cNvSpPr/>
          <p:nvPr/>
        </p:nvSpPr>
        <p:spPr>
          <a:xfrm>
            <a:off x="9646920" y="214884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icons/sliders_0668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1337" y="2283257"/>
            <a:ext cx="691286" cy="6912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06840" y="3291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SG90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006840" y="3657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서보모터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052560" y="411480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0~180도 사이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각도로 회전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4가지 부품을 조합하면, "어두워지면 불이 켜지는 무드등" 같은 실제 동작을 만들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0주차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0주차 · 개발 환경 준비하기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291840"/>
          </a:xfrm>
          <a:prstGeom prst="roundRect">
            <a:avLst>
              <a:gd name="adj" fmla="val 3889"/>
            </a:avLst>
          </a:prstGeom>
          <a:solidFill>
            <a:srgbClr val="EAF2F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945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code_0668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322576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 Code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33756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작성하는 프로그램(에디터)입니다.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앞으로 쓸 파이썬 코드를 여기서 작성하고, 실행 결과도 여기서 확인합니다.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120640" cy="3291840"/>
          </a:xfrm>
          <a:prstGeom prst="roundRect">
            <a:avLst>
              <a:gd name="adj" fmla="val 3889"/>
            </a:avLst>
          </a:prstGeom>
          <a:solidFill>
            <a:srgbClr val="EAF2FE"/>
          </a:solidFill>
          <a:ln/>
        </p:spPr>
      </p:sp>
      <p:sp>
        <p:nvSpPr>
          <p:cNvPr id="10" name="Shape 7"/>
          <p:cNvSpPr/>
          <p:nvPr/>
        </p:nvSpPr>
        <p:spPr>
          <a:xfrm>
            <a:off x="6611112" y="21945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microchip_066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322576"/>
            <a:ext cx="658368" cy="658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08392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CircuitPython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11112" y="333756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Pico 보드를 파이썬 언어로 제어할 수 있게 해주는 프로그램 언어입니다.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저장하기만 하면 보드가 바로 실행합니다.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필요할까요?  코드를 눈으로 확인하며 작성하고, 실수했을 때 어디가 문제인지 바로 볼 수 있어야 하기 때문입니다.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 · 센서로 액추에이터 움직이기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네트워크 연결 없이, Pico 보드 혼자서 "감지 → 판단 → 동작"까지 해내는 프로그램을 만듭니다.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71600" y="265176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EAF2FE"/>
          </a:solidFill>
          <a:ln/>
        </p:spPr>
      </p:sp>
      <p:sp>
        <p:nvSpPr>
          <p:cNvPr id="6" name="Shape 4"/>
          <p:cNvSpPr/>
          <p:nvPr/>
        </p:nvSpPr>
        <p:spPr>
          <a:xfrm>
            <a:off x="2446020" y="29260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eye_0668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7635" y="3047695"/>
            <a:ext cx="625450" cy="6254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감지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42793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CdS 센서로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밝기 확인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62272" y="3703320"/>
            <a:ext cx="320040" cy="274320"/>
          </a:xfrm>
          <a:prstGeom prst="rightArrow">
            <a:avLst/>
          </a:prstGeom>
          <a:solidFill>
            <a:srgbClr val="0668E1"/>
          </a:solidFill>
          <a:ln/>
        </p:spPr>
      </p:sp>
      <p:sp>
        <p:nvSpPr>
          <p:cNvPr id="11" name="Shape 8"/>
          <p:cNvSpPr/>
          <p:nvPr/>
        </p:nvSpPr>
        <p:spPr>
          <a:xfrm>
            <a:off x="4846320" y="265176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EAF2FE"/>
          </a:solidFill>
          <a:ln/>
        </p:spPr>
      </p:sp>
      <p:sp>
        <p:nvSpPr>
          <p:cNvPr id="12" name="Shape 9"/>
          <p:cNvSpPr/>
          <p:nvPr/>
        </p:nvSpPr>
        <p:spPr>
          <a:xfrm>
            <a:off x="5920740" y="29260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icons/brain_066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355" y="3047695"/>
            <a:ext cx="625450" cy="6254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8348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판단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29200" y="42793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"어두운가?"를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비교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36992" y="3703320"/>
            <a:ext cx="320040" cy="274320"/>
          </a:xfrm>
          <a:prstGeom prst="rightArrow">
            <a:avLst/>
          </a:prstGeom>
          <a:solidFill>
            <a:srgbClr val="0668E1"/>
          </a:solidFill>
          <a:ln/>
        </p:spPr>
      </p:sp>
      <p:sp>
        <p:nvSpPr>
          <p:cNvPr id="17" name="Shape 13"/>
          <p:cNvSpPr/>
          <p:nvPr/>
        </p:nvSpPr>
        <p:spPr>
          <a:xfrm>
            <a:off x="8321040" y="2651760"/>
            <a:ext cx="3017520" cy="2377440"/>
          </a:xfrm>
          <a:prstGeom prst="roundRect">
            <a:avLst>
              <a:gd name="adj" fmla="val 4615"/>
            </a:avLst>
          </a:prstGeom>
          <a:solidFill>
            <a:srgbClr val="EAF2FE"/>
          </a:solidFill>
          <a:ln/>
        </p:spPr>
      </p:sp>
      <p:sp>
        <p:nvSpPr>
          <p:cNvPr id="18" name="Shape 14"/>
          <p:cNvSpPr/>
          <p:nvPr/>
        </p:nvSpPr>
        <p:spPr>
          <a:xfrm>
            <a:off x="9395460" y="29260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icons/lightbulb_0668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075" y="3047695"/>
            <a:ext cx="625450" cy="625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5820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동작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503920" y="42793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어두우면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LED를 켬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"감지 → 판단 → 동작" 흐름이 모든 자동 제어 프로그램의 기본 뼈대입니다.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 · 인터넷으로 연결하기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291840"/>
          </a:xfrm>
          <a:prstGeom prst="roundRect">
            <a:avLst>
              <a:gd name="adj" fmla="val 3889"/>
            </a:avLst>
          </a:prstGeom>
          <a:solidFill>
            <a:srgbClr val="EAF2F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945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wifi_0668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322576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Wi-Fi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33756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선(케이블) 없이 무선으로 인터넷에 연결하는 기술입니다.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Pico가 Wi-Fi에 연결되면, 컴퓨터로 만든 서버와 데이터를 주고받을 수 있게 됩니다.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120640" cy="3291840"/>
          </a:xfrm>
          <a:prstGeom prst="roundRect">
            <a:avLst>
              <a:gd name="adj" fmla="val 3889"/>
            </a:avLst>
          </a:prstGeom>
          <a:solidFill>
            <a:srgbClr val="EAF2FE"/>
          </a:solidFill>
          <a:ln/>
        </p:spPr>
      </p:sp>
      <p:sp>
        <p:nvSpPr>
          <p:cNvPr id="10" name="Shape 7"/>
          <p:cNvSpPr/>
          <p:nvPr/>
        </p:nvSpPr>
        <p:spPr>
          <a:xfrm>
            <a:off x="6611112" y="21945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network_066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322576"/>
            <a:ext cx="658368" cy="658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08392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 주소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11112" y="333756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인터넷에 연결된 기기마다 부여되는 고유한 "주소"입니다.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마치 집 주소처럼, 데이터가 정확히 어느 기기로 가야 하는지 찾아가는 역할을 합니다.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2주차부터는 Pico가 더 이상 "혼자"가 아니라, 서버·데이터베이스와 함께 일하는 시스템이 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API와 JSON이란?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291840"/>
          </a:xfrm>
          <a:prstGeom prst="roundRect">
            <a:avLst>
              <a:gd name="adj" fmla="val 3889"/>
            </a:avLst>
          </a:prstGeom>
          <a:solidFill>
            <a:srgbClr val="EAF2F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945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commentdots_0668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322576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337560"/>
            <a:ext cx="4389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프로그램끼리 정해진 규칙으로 데이터를 주고받는 "창구"입니다.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음식점 주문 창구와 비슷합니다 — Pico가 "이 데이터 주세요/저장해주세요"라고 요청하면, 서버가 응답합니다.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120640" cy="3291840"/>
          </a:xfrm>
          <a:prstGeom prst="roundRect">
            <a:avLst>
              <a:gd name="adj" fmla="val 3889"/>
            </a:avLst>
          </a:prstGeom>
          <a:solidFill>
            <a:srgbClr val="EAF2FE"/>
          </a:solidFill>
          <a:ln/>
        </p:spPr>
      </p:sp>
      <p:sp>
        <p:nvSpPr>
          <p:cNvPr id="10" name="Shape 7"/>
          <p:cNvSpPr/>
          <p:nvPr/>
        </p:nvSpPr>
        <p:spPr>
          <a:xfrm>
            <a:off x="6611112" y="21945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code_066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322576"/>
            <a:ext cx="658368" cy="658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08392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11112" y="3337560"/>
            <a:ext cx="4389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이름표 붙여 정리한 표현 형식입니다.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{ "온도": 25, "습도": 60 } 처럼, 어떤 값이 무엇을 뜻하는지 이름표(key)와 값(value)으로 정리합니다.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Pico는 센서 값을 JSON으로 정리해서, API를 통해 서버에 전달합니다.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데이터베이스(MySQL)란?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554480"/>
          </a:xfrm>
          <a:prstGeom prst="roundRect">
            <a:avLst>
              <a:gd name="adj" fmla="val 8235"/>
            </a:avLst>
          </a:prstGeom>
          <a:solidFill>
            <a:srgbClr val="EAF2F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011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database_0668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139696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1965960"/>
            <a:ext cx="8961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표(엑셀 같은) 형태로 저장하고 관리하는 프로그램입니다.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값을 계속 쌓아두면, 나중에 "어제 몇 시에 가장 더웠는지" 같은 기록을 확인할 수 있습니다.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3566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 전체 흐름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4114800"/>
            <a:ext cx="2377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D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63040" y="4343400"/>
            <a:ext cx="731520" cy="731520"/>
          </a:xfrm>
          <a:prstGeom prst="ellipse">
            <a:avLst/>
          </a:prstGeom>
          <a:solidFill>
            <a:srgbClr val="EAF2FE"/>
          </a:solidFill>
          <a:ln/>
        </p:spPr>
      </p:sp>
      <p:pic>
        <p:nvPicPr>
          <p:cNvPr id="11" name="Image 1" descr="icons/microchip_066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453" y="444581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51663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Pico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072384" y="4873752"/>
            <a:ext cx="301752" cy="219456"/>
          </a:xfrm>
          <a:prstGeom prst="rightArrow">
            <a:avLst/>
          </a:prstGeom>
          <a:solidFill>
            <a:srgbClr val="0668E1"/>
          </a:solidFill>
          <a:ln/>
        </p:spPr>
      </p:sp>
      <p:sp>
        <p:nvSpPr>
          <p:cNvPr id="14" name="Shape 10"/>
          <p:cNvSpPr/>
          <p:nvPr/>
        </p:nvSpPr>
        <p:spPr>
          <a:xfrm>
            <a:off x="3429000" y="4114800"/>
            <a:ext cx="2377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D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51960" y="4343400"/>
            <a:ext cx="731520" cy="731520"/>
          </a:xfrm>
          <a:prstGeom prst="ellipse">
            <a:avLst/>
          </a:prstGeom>
          <a:solidFill>
            <a:srgbClr val="EAF2FE"/>
          </a:solidFill>
          <a:ln/>
        </p:spPr>
      </p:sp>
      <p:pic>
        <p:nvPicPr>
          <p:cNvPr id="16" name="Image 2" descr="icons/commentdots_0668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373" y="444581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20440" y="51663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요청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(JSON)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861304" y="4873752"/>
            <a:ext cx="301752" cy="219456"/>
          </a:xfrm>
          <a:prstGeom prst="rightArrow">
            <a:avLst/>
          </a:prstGeom>
          <a:solidFill>
            <a:srgbClr val="0668E1"/>
          </a:solidFill>
          <a:ln/>
        </p:spPr>
      </p:sp>
      <p:sp>
        <p:nvSpPr>
          <p:cNvPr id="19" name="Shape 14"/>
          <p:cNvSpPr/>
          <p:nvPr/>
        </p:nvSpPr>
        <p:spPr>
          <a:xfrm>
            <a:off x="6217920" y="4114800"/>
            <a:ext cx="2377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D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40880" y="4343400"/>
            <a:ext cx="731520" cy="731520"/>
          </a:xfrm>
          <a:prstGeom prst="ellipse">
            <a:avLst/>
          </a:prstGeom>
          <a:solidFill>
            <a:srgbClr val="EAF2FE"/>
          </a:solidFill>
          <a:ln/>
        </p:spPr>
      </p:sp>
      <p:pic>
        <p:nvPicPr>
          <p:cNvPr id="21" name="Image 3" descr="icons/server_0668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293" y="4445813"/>
            <a:ext cx="526694" cy="5266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9360" y="51663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8650224" y="4873752"/>
            <a:ext cx="301752" cy="219456"/>
          </a:xfrm>
          <a:prstGeom prst="rightArrow">
            <a:avLst/>
          </a:prstGeom>
          <a:solidFill>
            <a:srgbClr val="0668E1"/>
          </a:solidFill>
          <a:ln/>
        </p:spPr>
      </p:sp>
      <p:sp>
        <p:nvSpPr>
          <p:cNvPr id="24" name="Shape 18"/>
          <p:cNvSpPr/>
          <p:nvPr/>
        </p:nvSpPr>
        <p:spPr>
          <a:xfrm>
            <a:off x="9006840" y="4114800"/>
            <a:ext cx="2377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DF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829800" y="4343400"/>
            <a:ext cx="731520" cy="731520"/>
          </a:xfrm>
          <a:prstGeom prst="ellipse">
            <a:avLst/>
          </a:prstGeom>
          <a:solidFill>
            <a:srgbClr val="EAF2FE"/>
          </a:solidFill>
          <a:ln/>
        </p:spPr>
      </p:sp>
      <p:pic>
        <p:nvPicPr>
          <p:cNvPr id="26" name="Image 4" descr="icons/database_0668E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2213" y="4445813"/>
            <a:ext cx="526694" cy="5266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98280" y="51663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저장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 vs WebSocket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840480"/>
          </a:xfrm>
          <a:prstGeom prst="roundRect">
            <a:avLst>
              <a:gd name="adj" fmla="val 3333"/>
            </a:avLst>
          </a:prstGeom>
          <a:solidFill>
            <a:srgbClr val="EAF2F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945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commentdots_0668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322576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 (2주차)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33756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 메시지와 비슷합니다.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필요할 때마다 "보내고 → 답장 받고"를 반복합니다.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초에 한 번씩 값을 요청하는 방식이라, 그 사이의 변화는 놓칠 수 있습니다.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120640" cy="3840480"/>
          </a:xfrm>
          <a:prstGeom prst="roundRect">
            <a:avLst>
              <a:gd name="adj" fmla="val 3333"/>
            </a:avLst>
          </a:prstGeom>
          <a:solidFill>
            <a:srgbClr val="EAF2FE"/>
          </a:solidFill>
          <a:ln/>
        </p:spPr>
      </p:sp>
      <p:sp>
        <p:nvSpPr>
          <p:cNvPr id="10" name="Shape 7"/>
          <p:cNvSpPr/>
          <p:nvPr/>
        </p:nvSpPr>
        <p:spPr>
          <a:xfrm>
            <a:off x="6611112" y="21945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exchange_066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322576"/>
            <a:ext cx="658368" cy="658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08392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 (3주차)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11112" y="333756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통화와 비슷합니다.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연결되면 끊기 전까지 계속 이어져 있어서, 값이 바뀌는 즉시 서로에게 바로 전달됩니다.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"실시간" 대시보드에 적합합니다.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대시보드, 무엇이 달라지나요?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대시보드란 여러 정보를 한 화면에 모아서 보여주는 화면입니다. 자동차 계기판이 속도·연료량을 한눈에 보여주는 것과 같습니다.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EAF2FE"/>
          </a:solidFill>
          <a:ln/>
        </p:spPr>
      </p:sp>
      <p:sp>
        <p:nvSpPr>
          <p:cNvPr id="6" name="Shape 4"/>
          <p:cNvSpPr/>
          <p:nvPr/>
        </p:nvSpPr>
        <p:spPr>
          <a:xfrm>
            <a:off x="1874520" y="3154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thermometer_0668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536" y="3282696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값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6177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온도·습도·조도가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1초마다 자동 갱신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88036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EAF2FE"/>
          </a:solidFill>
          <a:ln/>
        </p:spPr>
      </p:sp>
      <p:sp>
        <p:nvSpPr>
          <p:cNvPr id="11" name="Shape 8"/>
          <p:cNvSpPr/>
          <p:nvPr/>
        </p:nvSpPr>
        <p:spPr>
          <a:xfrm>
            <a:off x="5577840" y="3154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lightbulb_066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56" y="3282696"/>
            <a:ext cx="658368" cy="6583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LED 제어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46177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색을 고르면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LED가 바로 반응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288036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EAF2FE"/>
          </a:solidFill>
          <a:ln/>
        </p:spPr>
      </p:sp>
      <p:sp>
        <p:nvSpPr>
          <p:cNvPr id="16" name="Shape 12"/>
          <p:cNvSpPr/>
          <p:nvPr/>
        </p:nvSpPr>
        <p:spPr>
          <a:xfrm>
            <a:off x="9281160" y="31546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sliders_0668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9176" y="3282696"/>
            <a:ext cx="658368" cy="6583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서보 제어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21040" y="46177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슬라이더를 움직이면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모터 각도가 즉시 반영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REST는 "요청해야 답이 오는" 방식이라면, WebSocket은 "연결만 하면 계속 흘러 들어오는" 방식입니다.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화면 디자인이 중요할까?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"동작하는" 화면이라도, 정리되지 않은 화면은 사용하는 사람에게 신뢰를 주지 못합니다.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EAF2FE"/>
          </a:solidFill>
          <a:ln/>
        </p:spPr>
      </p:sp>
      <p:sp>
        <p:nvSpPr>
          <p:cNvPr id="6" name="Shape 4"/>
          <p:cNvSpPr/>
          <p:nvPr/>
        </p:nvSpPr>
        <p:spPr>
          <a:xfrm>
            <a:off x="1874520" y="30632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icons/palette_0668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536" y="3191256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 정리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없이 여러 색을 섞지 않고,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색 계열로 통일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7432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EAF2FE"/>
          </a:solidFill>
          <a:ln/>
        </p:spPr>
      </p:sp>
      <p:sp>
        <p:nvSpPr>
          <p:cNvPr id="11" name="Shape 8"/>
          <p:cNvSpPr/>
          <p:nvPr/>
        </p:nvSpPr>
        <p:spPr>
          <a:xfrm>
            <a:off x="5577840" y="30632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table_066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56" y="3191256"/>
            <a:ext cx="658368" cy="6583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정돈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45720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값·라벨·버튼을 카드로 묶어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들어오게 배치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274320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EAF2FE"/>
          </a:solidFill>
          <a:ln/>
        </p:spPr>
      </p:sp>
      <p:sp>
        <p:nvSpPr>
          <p:cNvPr id="16" name="Shape 12"/>
          <p:cNvSpPr/>
          <p:nvPr/>
        </p:nvSpPr>
        <p:spPr>
          <a:xfrm>
            <a:off x="9281160" y="306324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point_0668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9176" y="3191256"/>
            <a:ext cx="658368" cy="6583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0" y="4160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명확한 버튼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21040" y="45720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"적용"이 아니라 "설정 반영"처럼</a:t>
            </a:r>
            <a:endParaRPr lang="en-US" sz="12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행동을 그대로 설명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4주차에는 우리 대시보드를 실제 계측기·제어반 느낌으로 다시 디자인합니다.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총정리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아키텍처, 한 장으로 정리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EAF2FE"/>
          </a:solidFill>
          <a:ln/>
        </p:spPr>
      </p:sp>
      <p:sp>
        <p:nvSpPr>
          <p:cNvPr id="5" name="Shape 3"/>
          <p:cNvSpPr/>
          <p:nvPr/>
        </p:nvSpPr>
        <p:spPr>
          <a:xfrm>
            <a:off x="1211580" y="2377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microchip_0668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6794" y="2492654"/>
            <a:ext cx="592531" cy="5925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83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Pico 2 W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센서로 감지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33472" y="3108960"/>
            <a:ext cx="201168" cy="201168"/>
          </a:xfrm>
          <a:prstGeom prst="rightArrow">
            <a:avLst/>
          </a:prstGeom>
          <a:solidFill>
            <a:srgbClr val="0668E1"/>
          </a:solidFill>
          <a:ln/>
        </p:spPr>
      </p:sp>
      <p:sp>
        <p:nvSpPr>
          <p:cNvPr id="10" name="Shape 7"/>
          <p:cNvSpPr/>
          <p:nvPr/>
        </p:nvSpPr>
        <p:spPr>
          <a:xfrm>
            <a:off x="2862072" y="210312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EAF2FE"/>
          </a:solidFill>
          <a:ln/>
        </p:spPr>
      </p:sp>
      <p:sp>
        <p:nvSpPr>
          <p:cNvPr id="11" name="Shape 8"/>
          <p:cNvSpPr/>
          <p:nvPr/>
        </p:nvSpPr>
        <p:spPr>
          <a:xfrm>
            <a:off x="3433572" y="2377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wifi_066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786" y="2492654"/>
            <a:ext cx="592531" cy="59253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53512" y="3383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Wi-Fi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53512" y="3794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무선 전송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855464" y="3108960"/>
            <a:ext cx="201168" cy="201168"/>
          </a:xfrm>
          <a:prstGeom prst="rightArrow">
            <a:avLst/>
          </a:prstGeom>
          <a:solidFill>
            <a:srgbClr val="0668E1"/>
          </a:solidFill>
          <a:ln/>
        </p:spPr>
      </p:sp>
      <p:sp>
        <p:nvSpPr>
          <p:cNvPr id="16" name="Shape 12"/>
          <p:cNvSpPr/>
          <p:nvPr/>
        </p:nvSpPr>
        <p:spPr>
          <a:xfrm>
            <a:off x="5084064" y="210312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EAF2FE"/>
          </a:solidFill>
          <a:ln/>
        </p:spPr>
      </p:sp>
      <p:sp>
        <p:nvSpPr>
          <p:cNvPr id="17" name="Shape 13"/>
          <p:cNvSpPr/>
          <p:nvPr/>
        </p:nvSpPr>
        <p:spPr>
          <a:xfrm>
            <a:off x="5655564" y="2377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icons/server_0668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778" y="2492654"/>
            <a:ext cx="592531" cy="59253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75504" y="3383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Next.js 서버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175504" y="3794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처리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077456" y="3108960"/>
            <a:ext cx="201168" cy="201168"/>
          </a:xfrm>
          <a:prstGeom prst="rightArrow">
            <a:avLst/>
          </a:prstGeom>
          <a:solidFill>
            <a:srgbClr val="0668E1"/>
          </a:solidFill>
          <a:ln/>
        </p:spPr>
      </p:sp>
      <p:sp>
        <p:nvSpPr>
          <p:cNvPr id="22" name="Shape 17"/>
          <p:cNvSpPr/>
          <p:nvPr/>
        </p:nvSpPr>
        <p:spPr>
          <a:xfrm>
            <a:off x="7306056" y="210312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EAF2FE"/>
          </a:solidFill>
          <a:ln/>
        </p:spPr>
      </p:sp>
      <p:sp>
        <p:nvSpPr>
          <p:cNvPr id="23" name="Shape 18"/>
          <p:cNvSpPr/>
          <p:nvPr/>
        </p:nvSpPr>
        <p:spPr>
          <a:xfrm>
            <a:off x="7877556" y="2377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icons/database_0668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770" y="2492654"/>
            <a:ext cx="592531" cy="59253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97496" y="3383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397496" y="3794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저장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299448" y="3108960"/>
            <a:ext cx="201168" cy="201168"/>
          </a:xfrm>
          <a:prstGeom prst="rightArrow">
            <a:avLst/>
          </a:prstGeom>
          <a:solidFill>
            <a:srgbClr val="0668E1"/>
          </a:solidFill>
          <a:ln/>
        </p:spPr>
      </p:sp>
      <p:sp>
        <p:nvSpPr>
          <p:cNvPr id="28" name="Shape 22"/>
          <p:cNvSpPr/>
          <p:nvPr/>
        </p:nvSpPr>
        <p:spPr>
          <a:xfrm>
            <a:off x="9528048" y="210312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EAF2FE"/>
          </a:solidFill>
          <a:ln/>
        </p:spPr>
      </p:sp>
      <p:sp>
        <p:nvSpPr>
          <p:cNvPr id="29" name="Shape 23"/>
          <p:cNvSpPr/>
          <p:nvPr/>
        </p:nvSpPr>
        <p:spPr>
          <a:xfrm>
            <a:off x="10099548" y="2377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icons/desktop_0668E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4762" y="2492654"/>
            <a:ext cx="592531" cy="59253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19488" y="3383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619488" y="37947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확인·제어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REST(2주차)로 저장하고, WebSocket(3주차)으로 실시간으로 보여주고, 4주차에 화면을 다듬는다 — 이것이 우리 학기 전체입니다.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8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 정리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02336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68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쉬운 설명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68E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IoT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사물에 인터넷을 연결해 서로 정보를 주고받게 하는 기술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온도·밝기 등을 감지해 숫자로 바꿔주는 부품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액추에이터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명령을 받아 실제로 움직이는 부품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Wi-Fi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 없이 무선으로 인터넷에 연결하는 기술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IP 주소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인터넷에 연결된 기기마다 붙는 고유 주소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02336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68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쉬운 설명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68E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프로그램끼리 정해진 규칙으로 데이터를 주고받는 창구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JSON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이름표를 붙여 정리한 데이터 표현 형식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데이터베이스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데이터를 표 형태로 저장·관리하는 프로그램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WebSocket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계속 연결된 상태로 실시간 데이터를 주고받는 방식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대시보드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B7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정보를 한 화면에 모아 보여주는 화면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6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B7B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371600"/>
            <a:ext cx="1097280" cy="1097280"/>
          </a:xfrm>
          <a:prstGeom prst="ellipse">
            <a:avLst/>
          </a:prstGeom>
          <a:solidFill>
            <a:srgbClr val="1B7BFF"/>
          </a:solidFill>
          <a:ln/>
        </p:spPr>
      </p:sp>
      <p:pic>
        <p:nvPicPr>
          <p:cNvPr id="4" name="Image 0" descr="icons/rock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525219"/>
            <a:ext cx="790042" cy="7900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834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 후, 여러분은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34290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만든 센서가 실시간으로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화면에 뜨는 것을 보게 됩니다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5349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B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용어가 나와도 괜찮습니다 — 한 주씩 차근차근 쌓아가면 됩니다.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2026-08-22T02:30:53Z</dcterms:created>
  <dcterms:modified xsi:type="dcterms:W3CDTF">2026-08-22T02:30:53Z</dcterms:modified>
</cp:coreProperties>
</file>